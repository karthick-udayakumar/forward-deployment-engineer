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3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91"/>
  </p:normalViewPr>
  <p:slideViewPr>
    <p:cSldViewPr snapToGrid="0">
      <p:cViewPr varScale="1">
        <p:scale>
          <a:sx n="122" d="100"/>
          <a:sy n="122" d="100"/>
        </p:scale>
        <p:origin x="224" y="2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10/9/26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488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EE6BAA-0080-49BB-A5F6-D96B22DFE410}" type="datetime1">
              <a:rPr lang="en-US" smtClean="0"/>
              <a:t>10/9/26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87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21560963-1EEA-4BDE-8FF9-3FEE13B5D43C}" type="datetime1">
              <a:rPr lang="en-US" smtClean="0"/>
              <a:t>10/9/26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864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10/9/26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330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10/9/26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427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10/9/26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556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515BC3-2A9C-497B-B82C-246EEDDDF89C}" type="datetime1">
              <a:rPr lang="en-US" smtClean="0"/>
              <a:t>10/9/26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428086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648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3E08220-0958-4EB6-84AC-FBA5654D4035}" type="datetime1">
              <a:rPr lang="en-US" smtClean="0"/>
              <a:t>10/9/26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798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37D881E9-FF16-48A7-B8AA-A17AAAEAD6E1}" type="datetime1">
              <a:rPr lang="en-US" smtClean="0"/>
              <a:t>10/9/26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9949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862C1B48-5712-40E8-928E-1136C5D12A17}" type="datetime1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88655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2BDF39F2-6977-4B14-98E3-4DFE82804B0D}" type="datetime1">
              <a:rPr lang="en-US" smtClean="0"/>
              <a:t>10/9/26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1089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1B48-5712-40E8-928E-1136C5D12A17}" type="datetime1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6615521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23EC03A-74B3-46B6-A70D-0B367EABDC7F}" type="datetime1">
              <a:rPr lang="en-US" smtClean="0"/>
              <a:t>10/9/26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38947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D6F66A7C-2450-4D43-AEC7-53AFAE9E8A03}" type="datetime1">
              <a:rPr lang="en-US" smtClean="0"/>
              <a:t>10/9/26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4433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FBC323F5-F813-45BA-B261-A7C41DB03AE5}" type="datetime1">
              <a:rPr lang="en-US" smtClean="0"/>
              <a:t>10/9/26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9859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4A97960-D10E-4C66-898F-E062784CD6C7}" type="datetime1">
              <a:rPr lang="en-US" smtClean="0"/>
              <a:t>10/9/26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1370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4A97960-D10E-4C66-898F-E062784CD6C7}" type="datetime1">
              <a:rPr lang="en-US" smtClean="0"/>
              <a:t>10/9/26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0957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B77AD4-7B4F-4A76-ADEB-9CF6601338DB}" type="datetime1">
              <a:rPr lang="en-US" smtClean="0"/>
              <a:t>10/9/26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13875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E0CC3F-E257-4F6E-9E6A-B96D887699EC}" type="datetime1">
              <a:rPr lang="en-US" smtClean="0"/>
              <a:t>10/9/26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49426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0BDAA3E-BE52-42BC-99E8-CCCB81A57ABD}" type="datetime1">
              <a:rPr lang="en-US" smtClean="0"/>
              <a:t>10/9/26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50132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B1491A9-BF26-4517-AB22-6183D453A902}" type="datetime1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3620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A5024DF-23AF-419A-978A-28215FBF1E37}" type="datetime1">
              <a:rPr lang="en-US" smtClean="0"/>
              <a:t>10/9/26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0045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B01CFC0-D171-4F9D-A610-2F47C1080058}" type="datetime1">
              <a:rPr lang="en-US" smtClean="0"/>
              <a:t>10/9/26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693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10/9/26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2855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2483-B3E3-4399-B6B2-4B1D067F8CE5}" type="datetime1">
              <a:rPr lang="en-US" smtClean="0"/>
              <a:t>10/9/26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6187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6574F-2CAD-411B-9EF3-12D0DF2C09EB}" type="datetime1">
              <a:rPr lang="en-US" smtClean="0"/>
              <a:t>10/9/26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008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10/9/26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99779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4" r:id="rId1"/>
    <p:sldLayoutId id="2147483838" r:id="rId2"/>
    <p:sldLayoutId id="2147483817" r:id="rId3"/>
    <p:sldLayoutId id="2147483822" r:id="rId4"/>
    <p:sldLayoutId id="2147483825" r:id="rId5"/>
    <p:sldLayoutId id="2147483827" r:id="rId6"/>
    <p:sldLayoutId id="2147483829" r:id="rId7"/>
    <p:sldLayoutId id="2147483833" r:id="rId8"/>
    <p:sldLayoutId id="2147483836" r:id="rId9"/>
    <p:sldLayoutId id="2147483841" r:id="rId10"/>
    <p:sldLayoutId id="2147483844" r:id="rId11"/>
    <p:sldLayoutId id="2147483845" r:id="rId12"/>
    <p:sldLayoutId id="2147483847" r:id="rId13"/>
    <p:sldLayoutId id="2147483849" r:id="rId14"/>
    <p:sldLayoutId id="2147483850" r:id="rId15"/>
    <p:sldLayoutId id="2147483855" r:id="rId16"/>
    <p:sldLayoutId id="2147483859" r:id="rId17"/>
    <p:sldLayoutId id="2147483861" r:id="rId18"/>
    <p:sldLayoutId id="2147483862" r:id="rId19"/>
    <p:sldLayoutId id="2147483866" r:id="rId20"/>
    <p:sldLayoutId id="2147483871" r:id="rId21"/>
    <p:sldLayoutId id="2147483874" r:id="rId22"/>
    <p:sldLayoutId id="2147483875" r:id="rId23"/>
    <p:sldLayoutId id="2147483877" r:id="rId24"/>
    <p:sldLayoutId id="2147483878" r:id="rId25"/>
    <p:sldLayoutId id="2147483879" r:id="rId26"/>
    <p:sldLayoutId id="2147483880" r:id="rId27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5AC898-E52D-8A6F-ADE3-CFB4F606E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202" y="210114"/>
            <a:ext cx="8924581" cy="283788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Recommendation — Deploying an In-EHR Clinical Invariants Rules Engine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A51E79-7572-A241-D9B4-34F0BDE902A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10/9/26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538C67-9EDC-0829-BEDA-3CAA300B2DE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715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22AE-1A4F-5565-F9DA-6DF205B97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Using Simple Hospital Software Rules to Stop Patient Return Visits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3570B5-D64C-BBFC-A21E-46A6C6D4F45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EE6BAA-0080-49BB-A5F6-D96B22DFE410}" type="datetime1">
              <a:rPr lang="en-US" smtClean="0"/>
              <a:t>10/9/26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98B982-A67A-586D-D79A-E7CACCC81F3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084505-C4EE-5B29-2CCB-5135ED2651D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1704262"/>
            <a:ext cx="11402568" cy="4946998"/>
          </a:xfrm>
        </p:spPr>
        <p:txBody>
          <a:bodyPr/>
          <a:lstStyle/>
          <a:p>
            <a:pPr lvl="0"/>
            <a:r>
              <a:rPr lang="en-IN" b="1" dirty="0"/>
              <a:t>Our Decision:</a:t>
            </a:r>
            <a:r>
              <a:rPr lang="en-IN" dirty="0"/>
              <a:t> </a:t>
            </a:r>
            <a:r>
              <a:rPr lang="en-IN" b="1" dirty="0"/>
              <a:t>Do NOT build or buy any complex AI or machine learning models today.</a:t>
            </a:r>
            <a:endParaRPr lang="en-IN" dirty="0"/>
          </a:p>
          <a:p>
            <a:pPr lvl="0"/>
            <a:r>
              <a:rPr lang="en-IN" b="1" dirty="0"/>
              <a:t>The Main Recommendation:</a:t>
            </a:r>
            <a:r>
              <a:rPr lang="en-IN" dirty="0"/>
              <a:t> We recommend setting up standard, automatic </a:t>
            </a:r>
            <a:r>
              <a:rPr lang="en-IN" b="1" dirty="0"/>
              <a:t>Data Rules</a:t>
            </a:r>
            <a:r>
              <a:rPr lang="en-IN" dirty="0"/>
              <a:t> directly inside the hospital's existing checkout computer system.</a:t>
            </a:r>
          </a:p>
          <a:p>
            <a:pPr lvl="0"/>
            <a:r>
              <a:rPr lang="en-IN" b="1" dirty="0"/>
              <a:t>How the Trigger Works:</a:t>
            </a:r>
            <a:r>
              <a:rPr lang="en-IN" dirty="0"/>
              <a:t> The computer will scan every diabetes patient at discharge. It will instantly pop up a "High Risk" warning if the patient matches </a:t>
            </a:r>
            <a:r>
              <a:rPr lang="en-IN" b="1" dirty="0"/>
              <a:t>ANY</a:t>
            </a:r>
            <a:r>
              <a:rPr lang="en-IN" dirty="0"/>
              <a:t> of these 3 simple signs:</a:t>
            </a:r>
          </a:p>
          <a:p>
            <a:pPr lvl="1"/>
            <a:r>
              <a:rPr lang="en-IN" b="1" dirty="0"/>
              <a:t>Past Hospital Visits:</a:t>
            </a:r>
            <a:r>
              <a:rPr lang="en-IN" dirty="0"/>
              <a:t> They were fully admitted to the hospital at least once in the past year (</a:t>
            </a:r>
            <a:r>
              <a:rPr lang="en-IN" sz="1100" dirty="0"/>
              <a:t>number_inpatient &gt;= 1</a:t>
            </a:r>
            <a:r>
              <a:rPr lang="en-IN" dirty="0"/>
              <a:t>).</a:t>
            </a:r>
          </a:p>
          <a:p>
            <a:pPr lvl="1"/>
            <a:r>
              <a:rPr lang="en-IN" b="1" dirty="0"/>
              <a:t>Multiple Sicknesses:</a:t>
            </a:r>
            <a:r>
              <a:rPr lang="en-IN" dirty="0"/>
              <a:t> They have 6 or more different medical conditions listed in their current file (</a:t>
            </a:r>
            <a:r>
              <a:rPr lang="en-IN" sz="1100" dirty="0"/>
              <a:t>number_diagnoses &gt;= 6</a:t>
            </a:r>
            <a:r>
              <a:rPr lang="en-IN" dirty="0"/>
              <a:t>).</a:t>
            </a:r>
          </a:p>
          <a:p>
            <a:pPr lvl="1"/>
            <a:r>
              <a:rPr lang="en-IN" b="1" dirty="0"/>
              <a:t>High-Risk Condition:</a:t>
            </a:r>
            <a:r>
              <a:rPr lang="en-IN" dirty="0"/>
              <a:t> Their main reason for being in the hospital is a heart, stroke, or severe sugar crisis (</a:t>
            </a:r>
            <a:r>
              <a:rPr lang="en-IN" sz="1100" dirty="0"/>
              <a:t>diag_1</a:t>
            </a:r>
            <a:r>
              <a:rPr lang="en-IN" dirty="0"/>
              <a:t> code).</a:t>
            </a:r>
          </a:p>
          <a:p>
            <a:pPr lvl="0"/>
            <a:r>
              <a:rPr lang="en-IN" b="1" dirty="0"/>
              <a:t>What Happens Next:</a:t>
            </a:r>
            <a:r>
              <a:rPr lang="en-IN" dirty="0"/>
              <a:t> The system will automatically send a task to our nurse care team. A nurse will be assigned to call the patient at home within </a:t>
            </a:r>
            <a:r>
              <a:rPr lang="en-IN" b="1" dirty="0"/>
              <a:t>48 hours</a:t>
            </a:r>
            <a:r>
              <a:rPr lang="en-IN" dirty="0"/>
              <a:t> to check on them.</a:t>
            </a:r>
          </a:p>
          <a:p>
            <a:pPr lvl="0"/>
            <a:r>
              <a:rPr lang="en-IN" b="1" dirty="0"/>
              <a:t>Immediate Next Step:</a:t>
            </a:r>
            <a:r>
              <a:rPr lang="en-IN" dirty="0"/>
              <a:t> Run a 30-day trial to see if our nurses can complete the calls and if patients actually answer the phone before we spend any money on software programming.</a:t>
            </a:r>
          </a:p>
        </p:txBody>
      </p:sp>
    </p:spTree>
    <p:extLst>
      <p:ext uri="{BB962C8B-B14F-4D97-AF65-F5344CB8AC3E}">
        <p14:creationId xmlns:p14="http://schemas.microsoft.com/office/powerpoint/2010/main" val="3081607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6D22A-6DD9-F2D6-9845-ED1C3E8E2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DCF3C-FB8E-5FC0-31BC-6B7D62DCB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IN" dirty="0"/>
              <a:t>What the Hospital Records Tell Us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52E927-801D-F28F-A10B-9B73088BAAA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EE6BAA-0080-49BB-A5F6-D96B22DFE410}" type="datetime1">
              <a:rPr lang="en-US" smtClean="0"/>
              <a:t>10/9/26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AB18C8-8575-92DD-190C-2CD6E92A482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00A7B2-DC12-085E-3034-7D469470A6E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1704262"/>
            <a:ext cx="11402568" cy="4946998"/>
          </a:xfrm>
        </p:spPr>
        <p:txBody>
          <a:bodyPr/>
          <a:lstStyle/>
          <a:p>
            <a:pPr lvl="0"/>
            <a:r>
              <a:rPr lang="en-IN" b="1" dirty="0"/>
              <a:t>The Numbers:</a:t>
            </a:r>
            <a:r>
              <a:rPr lang="en-IN" dirty="0"/>
              <a:t> We analyzed </a:t>
            </a:r>
            <a:r>
              <a:rPr lang="en-IN" b="1" dirty="0"/>
              <a:t>101,766 total hospital visits</a:t>
            </a:r>
            <a:r>
              <a:rPr lang="en-IN" dirty="0"/>
              <a:t>.</a:t>
            </a:r>
          </a:p>
          <a:p>
            <a:pPr lvl="0"/>
            <a:r>
              <a:rPr lang="en-IN" b="1" dirty="0"/>
              <a:t>Cleaning the Data:</a:t>
            </a:r>
            <a:r>
              <a:rPr lang="en-IN" dirty="0"/>
              <a:t> We automatically removed records for patients who passed away or went to end-of-life hospice care. Since they cannot realistically return to the hospital, removing them keeps our numbers accurate.</a:t>
            </a:r>
          </a:p>
          <a:p>
            <a:pPr lvl="0"/>
            <a:r>
              <a:rPr lang="en-IN" b="1" dirty="0"/>
              <a:t>The Real-World Skew:</a:t>
            </a:r>
            <a:r>
              <a:rPr lang="en-IN" dirty="0"/>
              <a:t> Out of all these records, only </a:t>
            </a:r>
            <a:r>
              <a:rPr lang="en-IN" b="1" dirty="0"/>
              <a:t>11.34% of patients</a:t>
            </a:r>
            <a:r>
              <a:rPr lang="en-IN" dirty="0"/>
              <a:t> return to the hospital early (within 30 days). The other </a:t>
            </a:r>
            <a:r>
              <a:rPr lang="en-IN" b="1" dirty="0"/>
              <a:t>88.66%</a:t>
            </a:r>
            <a:r>
              <a:rPr lang="en-IN" dirty="0"/>
              <a:t> go home and stay safe.</a:t>
            </a:r>
          </a:p>
          <a:p>
            <a:pPr lvl="0"/>
            <a:r>
              <a:rPr lang="en-IN" b="1" dirty="0"/>
              <a:t>Where Risk is Hidden:</a:t>
            </a:r>
            <a:r>
              <a:rPr lang="en-IN" dirty="0"/>
              <a:t> Our data search shows that the danger is heavily concentrated in very sick patients who are taking a massive amount of different pills (called </a:t>
            </a:r>
            <a:r>
              <a:rPr lang="en-IN" b="1" dirty="0"/>
              <a:t>polypharmacy</a:t>
            </a:r>
            <a:r>
              <a:rPr lang="en-IN" dirty="0"/>
              <a:t>). The data proves that a patient's </a:t>
            </a:r>
            <a:r>
              <a:rPr lang="en-IN" b="1" dirty="0"/>
              <a:t>lab test volume</a:t>
            </a:r>
            <a:r>
              <a:rPr lang="en-IN" dirty="0"/>
              <a:t>, </a:t>
            </a:r>
            <a:r>
              <a:rPr lang="en-IN" b="1" dirty="0"/>
              <a:t>total medication count</a:t>
            </a:r>
            <a:r>
              <a:rPr lang="en-IN" dirty="0"/>
              <a:t>, and </a:t>
            </a:r>
            <a:r>
              <a:rPr lang="en-IN" b="1" dirty="0"/>
              <a:t>specific heart/diabetes diagnoses</a:t>
            </a:r>
            <a:r>
              <a:rPr lang="en-IN" dirty="0"/>
              <a:t> are the strongest warnings of a return visit.</a:t>
            </a:r>
          </a:p>
        </p:txBody>
      </p:sp>
    </p:spTree>
    <p:extLst>
      <p:ext uri="{BB962C8B-B14F-4D97-AF65-F5344CB8AC3E}">
        <p14:creationId xmlns:p14="http://schemas.microsoft.com/office/powerpoint/2010/main" val="4118990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A507A-3461-CAD8-FD8B-F88B29934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Protecting Hospital Money &amp; Hitting the Break-Even Point 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FA0474-C659-6B11-9852-EB7C5D0F3ED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EE6BAA-0080-49BB-A5F6-D96B22DFE410}" type="datetime1">
              <a:rPr lang="en-US" smtClean="0"/>
              <a:t>10/9/26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86EDE6-8B88-E119-34FC-B1D16957016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38DF3F-895C-9E78-68CA-D190899EF2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C0E172-7CBE-236C-B27F-1FA727479AA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en-IN" b="1" dirty="0"/>
              <a:t>The Financial Goal:</a:t>
            </a:r>
            <a:r>
              <a:rPr lang="en-IN" dirty="0"/>
              <a:t> Stop the hospital from losing money on government and insurance fines caused by patients returning too quickly.</a:t>
            </a:r>
          </a:p>
          <a:p>
            <a:pPr lvl="0"/>
            <a:r>
              <a:rPr lang="en-IN" b="1" dirty="0"/>
              <a:t>The Cost of the Problem:</a:t>
            </a:r>
            <a:endParaRPr lang="en-IN" dirty="0"/>
          </a:p>
          <a:p>
            <a:pPr lvl="1"/>
            <a:r>
              <a:rPr lang="en-IN" i="1" dirty="0"/>
              <a:t>Total records:</a:t>
            </a:r>
            <a:r>
              <a:rPr lang="en-IN" dirty="0"/>
              <a:t> 101,766.</a:t>
            </a:r>
          </a:p>
          <a:p>
            <a:pPr lvl="1"/>
            <a:r>
              <a:rPr lang="en-IN" i="1" dirty="0"/>
              <a:t>Patients returning early:</a:t>
            </a:r>
            <a:r>
              <a:rPr lang="en-IN" dirty="0"/>
              <a:t> ~11,540 visits a year.</a:t>
            </a:r>
          </a:p>
          <a:p>
            <a:pPr lvl="1"/>
            <a:r>
              <a:rPr lang="en-IN" i="1" dirty="0"/>
              <a:t>Average fine per returning patient:</a:t>
            </a:r>
            <a:r>
              <a:rPr lang="en-IN" dirty="0"/>
              <a:t> </a:t>
            </a:r>
            <a:r>
              <a:rPr lang="en-IN" b="1" dirty="0"/>
              <a:t>$10,000</a:t>
            </a:r>
            <a:r>
              <a:rPr lang="en-IN" dirty="0"/>
              <a:t>.</a:t>
            </a:r>
          </a:p>
          <a:p>
            <a:pPr lvl="1"/>
            <a:r>
              <a:rPr lang="en-IN" i="1" dirty="0"/>
              <a:t>Total hospital money at risk:</a:t>
            </a:r>
            <a:r>
              <a:rPr lang="en-IN" dirty="0"/>
              <a:t> </a:t>
            </a:r>
            <a:r>
              <a:rPr lang="en-IN" b="1" dirty="0"/>
              <a:t>$115.4 Million</a:t>
            </a:r>
            <a:r>
              <a:rPr lang="en-IN" dirty="0"/>
              <a:t> every year.</a:t>
            </a:r>
          </a:p>
          <a:p>
            <a:pPr lvl="0"/>
            <a:r>
              <a:rPr lang="en-IN" b="1" dirty="0"/>
              <a:t>The Software Cost:</a:t>
            </a:r>
            <a:r>
              <a:rPr lang="en-IN" dirty="0"/>
              <a:t> Building a complex AI system requires around $150,000 in expensive engineer labor. By contrast, setting up our simple computer rules costs </a:t>
            </a:r>
            <a:r>
              <a:rPr lang="en-IN" b="1" dirty="0"/>
              <a:t>almost nothing</a:t>
            </a:r>
            <a:r>
              <a:rPr lang="en-IN" dirty="0"/>
              <a:t>.</a:t>
            </a:r>
          </a:p>
          <a:p>
            <a:pPr lvl="0"/>
            <a:r>
              <a:rPr lang="en-IN" b="1" dirty="0"/>
              <a:t>The Break-Even Target:</a:t>
            </a:r>
            <a:r>
              <a:rPr lang="en-IN" dirty="0"/>
              <a:t> Because our simple rules create a wide safety net that checks about 20% of discharging patients, </a:t>
            </a:r>
            <a:r>
              <a:rPr lang="en-IN" b="1" dirty="0"/>
              <a:t>stopping just 15 return visits across the whole hospital network</a:t>
            </a:r>
            <a:r>
              <a:rPr lang="en-IN" dirty="0"/>
              <a:t> will completely pay back our time and break even within 90 days.</a:t>
            </a:r>
          </a:p>
        </p:txBody>
      </p:sp>
    </p:spTree>
    <p:extLst>
      <p:ext uri="{BB962C8B-B14F-4D97-AF65-F5344CB8AC3E}">
        <p14:creationId xmlns:p14="http://schemas.microsoft.com/office/powerpoint/2010/main" val="2100869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4DD5C-4167-56D1-F4C5-5AD55DE52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Picking the Simplest Tool for the Job 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08F7F3-B636-CBAE-C076-2965FC1A42B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EE6BAA-0080-49BB-A5F6-D96B22DFE410}" type="datetime1">
              <a:rPr lang="en-US" smtClean="0"/>
              <a:t>10/9/26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0C098-FF66-F75A-0654-3D90B62BB39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12301F-3E45-0E1E-3C4F-61D87650323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4B7A5D-EEE0-3396-E24C-41EF9FD8501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en-IN" b="1" dirty="0"/>
              <a:t>The Tech Ladder:</a:t>
            </a:r>
            <a:endParaRPr lang="en-IN" dirty="0"/>
          </a:p>
          <a:p>
            <a:pPr lvl="1"/>
            <a:r>
              <a:rPr lang="en-IN" sz="1100" dirty="0"/>
              <a:t>[GenAI]</a:t>
            </a:r>
            <a:r>
              <a:rPr lang="en-IN" dirty="0"/>
              <a:t> ──► Too expensive, unsafe, and likely to invent fake medical data.</a:t>
            </a:r>
          </a:p>
          <a:p>
            <a:pPr lvl="1"/>
            <a:r>
              <a:rPr lang="en-IN" sz="1100" dirty="0"/>
              <a:t>[Machine Learning]</a:t>
            </a:r>
            <a:r>
              <a:rPr lang="en-IN" dirty="0"/>
              <a:t> ──► Too complex; hold off until our basic workflows are proven.</a:t>
            </a:r>
          </a:p>
          <a:p>
            <a:pPr lvl="1"/>
            <a:r>
              <a:rPr lang="en-IN" sz="1100" dirty="0"/>
              <a:t>[Analytics]</a:t>
            </a:r>
            <a:r>
              <a:rPr lang="en-IN" dirty="0"/>
              <a:t> ──► Just prints out backward-looking graphs; fails to act when a patient is leaving.</a:t>
            </a:r>
          </a:p>
          <a:p>
            <a:pPr lvl="1"/>
            <a:r>
              <a:rPr lang="en-IN" sz="1100" b="1" dirty="0"/>
              <a:t>►► [RULES ENGINE]</a:t>
            </a:r>
            <a:r>
              <a:rPr lang="en-IN" b="1" dirty="0"/>
              <a:t> ──► OUR SELECTION: Automatic, simple checkout triggers</a:t>
            </a:r>
            <a:r>
              <a:rPr lang="en-IN" dirty="0"/>
              <a:t>.</a:t>
            </a:r>
          </a:p>
          <a:p>
            <a:pPr lvl="1"/>
            <a:r>
              <a:rPr lang="en-IN" sz="1100" dirty="0"/>
              <a:t>[Process]</a:t>
            </a:r>
            <a:r>
              <a:rPr lang="en-IN" dirty="0"/>
              <a:t> ──► Leaving things to chance with old, unmanaged nursing routines.</a:t>
            </a:r>
          </a:p>
          <a:p>
            <a:pPr lvl="0"/>
            <a:r>
              <a:rPr lang="en-IN" b="1" dirty="0"/>
              <a:t>Why This Choice?</a:t>
            </a:r>
            <a:r>
              <a:rPr lang="en-IN" dirty="0"/>
              <a:t> Building complex AI right now is a trap because the data is too uneven. A simple rules engine acts as an instant safety filter with no risk of errors or data mixing.</a:t>
            </a:r>
          </a:p>
          <a:p>
            <a:pPr lvl="0"/>
            <a:r>
              <a:rPr lang="en-IN" b="1" dirty="0"/>
              <a:t>How it works for the Nurse:</a:t>
            </a:r>
            <a:r>
              <a:rPr lang="en-IN" dirty="0"/>
              <a:t> The exact second a patient checks out, the computer scans their files. If they match our 3 rules, a bright alert pops up on the nurse's screen: </a:t>
            </a:r>
            <a:r>
              <a:rPr lang="en-IN" b="1" dirty="0"/>
              <a:t>" HIGH-RISK DISCHARGE. Ticket sent to care team for a 48-hour follow-up call."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089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6EE96-9605-0BAD-8AF8-EE6CA8A9F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Reality Ledger &amp; Our 30-Day Testing Plan 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3CF688-4471-F7EB-F75B-E0572480D4E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EE6BAA-0080-49BB-A5F6-D96B22DFE410}" type="datetime1">
              <a:rPr lang="en-US" smtClean="0"/>
              <a:t>10/9/26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28EADF-706B-09C3-7093-52B15BC097B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C69798-618A-8C67-E418-B6E1A8E5D14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133C85-B15E-80A1-83A6-80AE825E599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IN" b="1" dirty="0"/>
              <a:t>The 3 Reality Claims</a:t>
            </a:r>
            <a:endParaRPr lang="en-IN" dirty="0"/>
          </a:p>
          <a:p>
            <a:pPr lvl="0"/>
            <a:r>
              <a:rPr lang="en-IN" b="1" dirty="0"/>
              <a:t>Claim 1:</a:t>
            </a:r>
            <a:r>
              <a:rPr lang="en-IN" dirty="0"/>
              <a:t> Past visits, high disease counts, and heart diagnoses dictate return risk. </a:t>
            </a:r>
            <a:r>
              <a:rPr lang="en-IN" b="1" dirty="0"/>
              <a:t>[FACT]</a:t>
            </a:r>
            <a:r>
              <a:rPr lang="en-IN" dirty="0"/>
              <a:t> </a:t>
            </a:r>
            <a:r>
              <a:rPr lang="en-IN" i="1" dirty="0"/>
              <a:t>Proven completely true by the numbers in the hospital files</a:t>
            </a:r>
            <a:r>
              <a:rPr lang="en-IN" dirty="0"/>
              <a:t>.</a:t>
            </a:r>
          </a:p>
          <a:p>
            <a:pPr lvl="0"/>
            <a:r>
              <a:rPr lang="en-IN" b="1" dirty="0"/>
              <a:t>Claim 2:</a:t>
            </a:r>
            <a:r>
              <a:rPr lang="en-IN" dirty="0"/>
              <a:t> Calling these patients within 48 hours will keep them safe at home. </a:t>
            </a:r>
            <a:r>
              <a:rPr lang="en-IN" b="1" dirty="0"/>
              <a:t>[ASSUMPTION]</a:t>
            </a:r>
            <a:r>
              <a:rPr lang="en-IN" dirty="0"/>
              <a:t> </a:t>
            </a:r>
            <a:r>
              <a:rPr lang="en-IN" i="1" dirty="0"/>
              <a:t>We assume this works, but it depends entirely on whether our staff actually makes the calls</a:t>
            </a:r>
            <a:r>
              <a:rPr lang="en-IN" dirty="0"/>
              <a:t>.</a:t>
            </a:r>
          </a:p>
          <a:p>
            <a:pPr lvl="0"/>
            <a:r>
              <a:rPr lang="en-IN" b="1" dirty="0"/>
              <a:t>Claim 3:</a:t>
            </a:r>
            <a:r>
              <a:rPr lang="en-IN" dirty="0"/>
              <a:t> All of our clinics type data into the computer the exact same way. </a:t>
            </a:r>
            <a:r>
              <a:rPr lang="en-IN" b="1" dirty="0"/>
              <a:t>[HYPOTHESIS]</a:t>
            </a:r>
            <a:r>
              <a:rPr lang="en-IN" dirty="0"/>
              <a:t> </a:t>
            </a:r>
            <a:r>
              <a:rPr lang="en-IN" i="1" dirty="0"/>
              <a:t>Unproven; if different clinics format data differently, it could break our system</a:t>
            </a:r>
            <a:r>
              <a:rPr lang="en-IN" dirty="0"/>
              <a:t>.</a:t>
            </a:r>
          </a:p>
          <a:p>
            <a:r>
              <a:rPr lang="en-IN" dirty="0"/>
              <a:t>🧪 </a:t>
            </a:r>
            <a:r>
              <a:rPr lang="en-IN" b="1" dirty="0"/>
              <a:t>The 30-Day De-Risking Trial (Testing the Humans First)</a:t>
            </a:r>
            <a:br>
              <a:rPr lang="en-IN" dirty="0"/>
            </a:br>
            <a:r>
              <a:rPr lang="en-IN" dirty="0"/>
              <a:t>Before we write any computer code, we will run a 1-month test to measure two human behaviors:</a:t>
            </a:r>
          </a:p>
          <a:p>
            <a:pPr lvl="0"/>
            <a:r>
              <a:rPr lang="en-IN" b="1" dirty="0"/>
              <a:t>Metric X (Nurse Compliance):</a:t>
            </a:r>
            <a:r>
              <a:rPr lang="en-IN" dirty="0"/>
              <a:t> Do our care nurses actually complete the follow-up phone tickets within the 48-hour limit? </a:t>
            </a:r>
            <a:r>
              <a:rPr lang="en-IN" b="1" dirty="0"/>
              <a:t>(Goal: Over 90% of calls completed)</a:t>
            </a:r>
            <a:r>
              <a:rPr lang="en-IN" dirty="0"/>
              <a:t>.</a:t>
            </a:r>
          </a:p>
          <a:p>
            <a:pPr lvl="0"/>
            <a:r>
              <a:rPr lang="en-IN" b="1" dirty="0"/>
              <a:t>Metric Y (Patient Answer Rates):</a:t>
            </a:r>
            <a:r>
              <a:rPr lang="en-IN" dirty="0"/>
              <a:t> Do patients actually pick up the phone, understand the nurse's instructions, and take their pills correctly at home? </a:t>
            </a:r>
            <a:r>
              <a:rPr lang="en-IN" b="1" dirty="0"/>
              <a:t>(Goal: Over 75% of patients answer and cooperate)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7476546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9</TotalTime>
  <Words>958</Words>
  <Application>Microsoft Macintosh PowerPoint</Application>
  <PresentationFormat>Widescreen</PresentationFormat>
  <Paragraphs>56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Arial Nova Light</vt:lpstr>
      <vt:lpstr>Dark Gradient</vt:lpstr>
      <vt:lpstr>Recommendation — Deploying an In-EHR Clinical Invariants Rules Engine</vt:lpstr>
      <vt:lpstr>Using Simple Hospital Software Rules to Stop Patient Return Visits</vt:lpstr>
      <vt:lpstr>What the Hospital Records Tell Us</vt:lpstr>
      <vt:lpstr>Protecting Hospital Money &amp; Hitting the Break-Even Point </vt:lpstr>
      <vt:lpstr>Picking the Simplest Tool for the Job </vt:lpstr>
      <vt:lpstr>The Reality Ledger &amp; Our 30-Day Testing Plan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Karthick Udayakumar</dc:creator>
  <cp:lastModifiedBy>Karthick Udayakumar</cp:lastModifiedBy>
  <cp:revision>1</cp:revision>
  <dcterms:created xsi:type="dcterms:W3CDTF">2026-10-09T13:41:29Z</dcterms:created>
  <dcterms:modified xsi:type="dcterms:W3CDTF">2026-10-09T13:51:28Z</dcterms:modified>
</cp:coreProperties>
</file>